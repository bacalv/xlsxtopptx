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304800" y="121920"/>
            <a:ext cx="8534400" cy="330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600" b="true"/>
              <a:t>Funding Requests</a:t>
            </a:r>
            <a:endParaRPr lang="en-US" sz="1600"/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304800" y="635000"/>
          <a:ext cx="8382000" cy="4307775"/>
        </p:xfrm>
        <a:graphic>
          <a:graphicData uri="http://schemas.openxmlformats.org/drawingml/2006/table">
            <a:tbl>
              <a:tblPr/>
              <a:tblGrid>
                <a:gridCol w="2060389"/>
                <a:gridCol w="517041"/>
                <a:gridCol w="517041"/>
                <a:gridCol w="517041"/>
                <a:gridCol w="517041"/>
                <a:gridCol w="517041"/>
                <a:gridCol w="517041"/>
                <a:gridCol w="164144"/>
                <a:gridCol w="517041"/>
                <a:gridCol w="517041"/>
                <a:gridCol w="517041"/>
                <a:gridCol w="517041"/>
                <a:gridCol w="470014"/>
                <a:gridCol w="517041"/>
              </a:tblGrid>
              <a:tr h="1441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 anchor="t" rtlCol="fals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FFFFFF"/>
                          </a:solidFill>
                          <a:latin typeface="Calibri"/>
                        </a:rPr>
                        <a:t>FY 2026 Forecast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1F6E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 anchor="t" rtlCol="fals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FFFFFF"/>
                          </a:solidFill>
                          <a:latin typeface="Calibri"/>
                        </a:rPr>
                        <a:t>FY 2027 Plan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1F6E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41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Technology [L4] as Sponsor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6">
                  <a:txBody>
                    <a:bodyPr anchor="t" rtlCol="fals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FFFFFF"/>
                          </a:solidFill>
                          <a:latin typeface="Calibri"/>
                        </a:rPr>
                        <a:t>FY'26 Funding Requests as of July 18th 12am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1F6E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6">
                  <a:txBody>
                    <a:bodyPr anchor="t" rtlCol="fals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FFFFFF"/>
                          </a:solidFill>
                          <a:latin typeface="Calibri"/>
                        </a:rPr>
                        <a:t>FY'27 Funding Requests as of July 18th 12am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1F6E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41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PS /BS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CO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Bus Mand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Tech Mand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C/PI/S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Total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PS /BS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CO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Bus Mand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Tech Mand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C/PI/S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Total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41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Products &amp; Functions Technology [L5]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2,145.00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mpd="sng" algn="ctr" cap="flat">
                      <a:solidFill>
                        <a:srgbClr val="A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45.00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mpd="sng" algn="ctr" cap="flat">
                      <a:solidFill>
                        <a:srgbClr val="A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156.00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mpd="sng" algn="ctr" cap="flat">
                      <a:solidFill>
                        <a:srgbClr val="A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11,223.00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mpd="sng" algn="ctr" cap="flat">
                      <a:solidFill>
                        <a:srgbClr val="A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12.00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mpd="sng" algn="ctr" cap="flat">
                      <a:solidFill>
                        <a:srgbClr val="A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13,581.00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mpd="sng" algn="ctr" cap="flat">
                      <a:solidFill>
                        <a:srgbClr val="A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2,130.00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mpd="sng" algn="ctr" cap="flat">
                      <a:solidFill>
                        <a:srgbClr val="A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62.00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mpd="sng" algn="ctr" cap="flat">
                      <a:solidFill>
                        <a:srgbClr val="A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28.00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mpd="sng" algn="ctr" cap="flat">
                      <a:solidFill>
                        <a:srgbClr val="A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558.00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mpd="sng" algn="ctr" cap="flat">
                      <a:solidFill>
                        <a:srgbClr val="A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mpd="sng" algn="ctr" cap="flat">
                      <a:solidFill>
                        <a:srgbClr val="A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2,784.00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mpd="sng" algn="ctr" cap="flat">
                      <a:solidFill>
                        <a:srgbClr val="A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41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Banking Technology [L6]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41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Business Execution Products &amp; Functions Tech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41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Steve's Golf Lessons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53.00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434.00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505.00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513.00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53.00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53.00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685.00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41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Dave's Disco Equiptment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929.00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1,082.00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1,250.00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1,283.00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294.00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4,838.00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1,057.00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741.00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190.00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814.00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478.00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3,280.00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41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Colin's Bonus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1,294.00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70.00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137.00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1,245.00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208.00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2,954.00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556.00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516.00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217.00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1,222.00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305.00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2,816.00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41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ETR Team Drinks Bill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998.00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321.00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1,176.00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425.00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991.00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3,911.00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565.00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1,268.00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493.00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796.00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764.00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3,886.00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41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Nigel's Cut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1,389.00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943.00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154.00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252.00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901.00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3,639.00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1,138.00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571.00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776.00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421.00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2,929.00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41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Government Bribes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387.00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691.00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1,273.00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624.00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407.00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3,382.00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1,077.00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1,080.00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1,255.00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470.00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1,167.00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5,049.00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41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AI controlled wall mounted automatic weapons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1,126.00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65.00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797.00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1,084.00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610.00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3,682.00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979.00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789.00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873.00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124.00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222.00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2,987.00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41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Money for Tea + Coffee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249.00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836.00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954.00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888.00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583.00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3,510.00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556.00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462.00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825.00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1,354.00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3,229.00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41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New beanbags for the office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1,081.00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1,109.00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1,300.00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906.00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64.00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4,460.00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910.00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1,369.00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1,000.00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690.00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1,383.00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5,352.00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41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Doing up London Office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574.00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1,313.00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180.00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1,177.00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863.00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4,107.00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1,187.00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176.00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492.00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1,158.00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234.00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3,247.00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41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New set of Lava Lamps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592.00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1,044.00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1,277.00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885.00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790.00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4,588.00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518.00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934.00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1,275.00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398.00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651.00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3,776.00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41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Cleaning bill for toilets on the trading floor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1,203.00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647.00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587.00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918.00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3,364.00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1,296.00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885.00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95.00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79.00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494.00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2,849.00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41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Exotic gifts for the big wigs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719.00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144.00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194.00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1,318.00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566.00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2,941.00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1,093.00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1,173.00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856.00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1,132.00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1,384.00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5,638.00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41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New sets of rubber mats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821.00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503.00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440.00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419.00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1,306.00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3,489.00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708.00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241.00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1,181.00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440.00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276.00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2,846.00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41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Replacement windscreen wipers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1,260.00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111.00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945.00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162.00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428.00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2,906.00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873.00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397.00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1,002.00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73.00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778.00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3,123.00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41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Quantum tech for cracking encryption keys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921.00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784.00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717.00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904.00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444.00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3,770.00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1,021.00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1,376.00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122.00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307.00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73.00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2,899.00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41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QFS integration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608.00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960.00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875.00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1,335.00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3,826.00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876.00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1,159.00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404.00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395.00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2,856.00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41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Tips for New York taxi drivers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610.00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515.00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144.00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271.00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1,255.00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2,795.00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1,169.00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362.00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1,156.00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1,205.00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291.00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4,183.00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41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Enterprise Data Office (L5)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12.00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17.00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29.00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37.00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100.00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37.00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28.00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23.00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101.00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41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Chief Technology Office (L5)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15.00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16.00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33.00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66.00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22.00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32.00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38.00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97.00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41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Technology Chief Technology Office (L5)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12.00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29.00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18.00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23.00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83.00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22.00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30.00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24.00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35.00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111.00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41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Technology Business Enablement (L5)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25.00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14.00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35.00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81.00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22.00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26.00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27.00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26.00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103.00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41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FFFFFF"/>
                          </a:solidFill>
                          <a:latin typeface="Calibri"/>
                        </a:rPr>
                        <a:t>Total App Dev Funding Requests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1F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FFFFFF"/>
                          </a:solidFill>
                          <a:latin typeface="Calibri"/>
                        </a:rPr>
                        <a:t>16,443.00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1F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FFFFFF"/>
                          </a:solidFill>
                          <a:latin typeface="Calibri"/>
                        </a:rPr>
                        <a:t>10,900.00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1F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FFFFFF"/>
                          </a:solidFill>
                          <a:latin typeface="Calibri"/>
                        </a:rPr>
                        <a:t>12,721.00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1F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FFFFFF"/>
                          </a:solidFill>
                          <a:latin typeface="Calibri"/>
                        </a:rPr>
                        <a:t>24,038.00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1F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FFFFFF"/>
                          </a:solidFill>
                          <a:latin typeface="Calibri"/>
                        </a:rPr>
                        <a:t>12,506.00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1F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FFFFFF"/>
                          </a:solidFill>
                          <a:latin typeface="Calibri"/>
                        </a:rPr>
                        <a:t>76,608.00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1F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FFFFFF"/>
                          </a:solidFill>
                          <a:latin typeface="Calibri"/>
                        </a:rPr>
                        <a:t>17,009.00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1F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FFFFFF"/>
                          </a:solidFill>
                          <a:latin typeface="Calibri"/>
                        </a:rPr>
                        <a:t>13,377.00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1F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FFFFFF"/>
                          </a:solidFill>
                          <a:latin typeface="Calibri"/>
                        </a:rPr>
                        <a:t>12,825.00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1F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FFFFFF"/>
                          </a:solidFill>
                          <a:latin typeface="Calibri"/>
                        </a:rPr>
                        <a:t>12,141.00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1F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FFFFFF"/>
                          </a:solidFill>
                          <a:latin typeface="Calibri"/>
                        </a:rPr>
                        <a:t>9,510.00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1F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FFFFFF"/>
                          </a:solidFill>
                          <a:latin typeface="Calibri"/>
                        </a:rPr>
                        <a:t>64,862.00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1F6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