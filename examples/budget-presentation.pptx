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42B4B"/>
          </a:solidFill>
          <a:ln>
            <a:noFill/>
          </a:ln>
        </p:spPr>
      </p:sp>
      <p:sp>
        <p:nvSpPr>
          <p:cNvPr id="3" name="AutoShape 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TextBox 4"/>
          <p:cNvSpPr txBox="true"/>
          <p:nvPr/>
        </p:nvSpPr>
        <p:spPr>
          <a:xfrm>
            <a:off x="406400" y="127000"/>
            <a:ext cx="3810000" cy="431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GB"/>
              <a:t/>
            </a:r>
          </a:p>
          <a:p>
            <a:r>
              <a:rPr b="true" lang="en-US" sz="2000">
                <a:solidFill>
                  <a:srgbClr val="FFFFFF"/>
                </a:solidFill>
              </a:rPr>
              <a:t>SUMMIT &amp; CO</a:t>
            </a:r>
          </a:p>
        </p:txBody>
      </p:sp>
      <p:sp>
        <p:nvSpPr>
          <p:cNvPr id="5" name="TextBox 5"/>
          <p:cNvSpPr txBox="true"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GB"/>
              <a:t/>
            </a:r>
          </a:p>
          <a:p>
            <a:pPr algn="ctr"/>
            <a:r>
              <a:rPr b="true" lang="en-US" sz="4000">
                <a:solidFill>
                  <a:srgbClr val="142B4B"/>
                </a:solidFill>
              </a:rPr>
              <a:t>Team Offsite Budget</a:t>
            </a:r>
          </a:p>
        </p:txBody>
      </p:sp>
      <p:sp>
        <p:nvSpPr>
          <p:cNvPr id="6" name="TextBox 6"/>
          <p:cNvSpPr txBox="true"/>
          <p:nvPr/>
        </p:nvSpPr>
        <p:spPr>
          <a:xfrm>
            <a:off x="762000" y="36830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GB"/>
              <a:t/>
            </a:r>
          </a:p>
          <a:p>
            <a:pPr algn="ctr"/>
            <a:r>
              <a:rPr b="false" lang="en-US" sz="2000">
                <a:solidFill>
                  <a:srgbClr val="808080"/>
                </a:solidFill>
              </a:rPr>
              <a:t>Q3 2026 Planning Review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42B4B"/>
          </a:solidFill>
          <a:ln>
            <a:noFill/>
          </a:ln>
        </p:spPr>
      </p:sp>
      <p:sp>
        <p:nvSpPr>
          <p:cNvPr id="3" name="AutoShape 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TextBox 4"/>
          <p:cNvSpPr txBox="true"/>
          <p:nvPr/>
        </p:nvSpPr>
        <p:spPr>
          <a:xfrm>
            <a:off x="406400" y="127000"/>
            <a:ext cx="3810000" cy="431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GB"/>
              <a:t/>
            </a:r>
          </a:p>
          <a:p>
            <a:r>
              <a:rPr b="true" lang="en-US" sz="2000">
                <a:solidFill>
                  <a:srgbClr val="FFFFFF"/>
                </a:solidFill>
              </a:rPr>
              <a:t>SUMMIT &amp; CO</a:t>
            </a:r>
          </a:p>
        </p:txBody>
      </p:sp>
      <p:graphicFrame>
        <p:nvGraphicFramePr>
          <p:cNvPr id="5" name="Table 5"/>
          <p:cNvGraphicFramePr>
            <a:graphicFrameLocks noGrp="true"/>
          </p:cNvGraphicFramePr>
          <p:nvPr/>
        </p:nvGraphicFramePr>
        <p:xfrm>
          <a:off x="508000" y="1066800"/>
          <a:ext cx="11176000" cy="1978025"/>
        </p:xfrm>
        <a:graphic>
          <a:graphicData uri="http://schemas.openxmlformats.org/drawingml/2006/table">
            <a:tbl>
              <a:tblPr/>
              <a:tblGrid>
                <a:gridCol w="4829307"/>
                <a:gridCol w="2337094"/>
                <a:gridCol w="1838652"/>
                <a:gridCol w="2170947"/>
              </a:tblGrid>
              <a:tr h="273050">
                <a:tc gridSpan="4"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400">
                          <a:solidFill>
                            <a:srgbClr val="000000"/>
                          </a:solidFill>
                          <a:latin typeface="Calibri"/>
                        </a:rPr>
                        <a:t>Team Offsite Budget -- as of 27 Jul 2026</a:t>
                      </a:r>
                      <a:endParaRPr lang="en-US" sz="14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4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Category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Estimated ($)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Actual ($)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Variance ($)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solidFill>
                      <a:srgbClr val="EEEEEE"/>
                    </a:solidFill>
                  </a:tcPr>
                </a:tc>
              </a:tr>
              <a:tr h="225425"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Venue hire (The Old Brewery)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$4,000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$4,250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$250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</a:tr>
              <a:tr h="225425"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Catering &amp; drinks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$2,200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$2,100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-$100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425"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Travel &amp; transport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$1,800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$1,950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$150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425"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Swag &amp; prizes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$600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$580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-$20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7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425"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AV &amp; entertainment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$900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$900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fals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54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$9,500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$9,780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b="true" i="false" lang="en-US" sz="1100">
                          <a:solidFill>
                            <a:srgbClr val="000000"/>
                          </a:solidFill>
                          <a:latin typeface="Calibri"/>
                        </a:rPr>
                        <a:t>$280</a:t>
                      </a:r>
                      <a:endParaRPr lang="en-US" sz="1100"/>
                    </a:p>
                  </a:txBody>
                  <a:tcPr marB="25400" marL="50800" marR="50800" marT="25400">
                    <a:lnL>
                      <a:noFill/>
                    </a:lnL>
                    <a:lnR>
                      <a:noFill/>
                    </a:lnR>
                    <a:lnT algn="ctr"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